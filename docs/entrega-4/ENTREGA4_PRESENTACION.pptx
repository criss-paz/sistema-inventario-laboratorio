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9bc929b-7732-6a04-3d09-d9a773b9f1a8}">
          <p14:sldIdLst>
            <p14:sldId id="256"/>
          </p14:sldIdLst>
        </p14:section>
        <p14:section name="El problema" id="{9430e231-7c11-c400-18e8-742b8895f195}">
          <p14:sldIdLst>
            <p14:sldId id="257"/>
          </p14:sldIdLst>
        </p14:section>
        <p14:section name="Cómo está construido" id="{6c1008bc-d228-9f6f-8c0d-57d5d5082bef}">
          <p14:sldIdLst>
            <p14:sldId id="258"/>
            <p14:sldId id="259"/>
            <p14:sldId id="260"/>
          </p14:sldIdLst>
        </p14:section>
        <p14:section name="La base de datos" id="{7c0bdbc1-a608-4b53-1b7f-38cb0ac36cac}">
          <p14:sldIdLst>
            <p14:sldId id="261"/>
            <p14:sldId id="262"/>
            <p14:sldId id="263"/>
            <p14:sldId id="264"/>
            <p14:sldId id="265"/>
          </p14:sldIdLst>
        </p14:section>
        <p14:section name="El sistema" id="{19e24da5-381b-30e1-1da3-6818b5b5a128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Despliegue" id="{cf208868-b127-92a1-3543-5b73a5ffa3a4}">
          <p14:sldIdLst>
            <p14:sldId id="272"/>
          </p14:sldIdLst>
        </p14:section>
        <p14:section name="Cierre" id="{10ab6f85-c1dd-8ecd-183a-3bfa47f11d0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Presentacion general del sistema: que problema resuelve, como esta construido y por que se tomo cada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partida fueron registros en papel. Los numeros son datos reales ya cargados, no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separacion de capas es el estandar A1 de la consigna. El punto fuerte es el ultimo: la base no depende de que la app se porte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eleccion tiene una razon tecnica, no de gusto. El cambio de psycopg2 a psycopg3 lo descubrimos ejecutando, no leyendo.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restricciones explicitas frente a las 15 que pedia la consigna. La normalizacion a 3FN esta demostrada con dependencias funcionales.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mejor argumento de la defensa: la carga completa paso sin que ningun trigger la abortara, lo que prueba que las existencias son coherentes.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capas son independientes a proposito. Si falla una, la otra sigue en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se responde la pregunta de la presentacion anterior. Lo importante es explicar por que OAuth no aplica, no solo decir que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resumen muestra inventario bajo, lotes vencidos y por vencer, y los ultimos movimientos.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devolucion fue una mejora que propuso el equipo al usar el sistema, no estaba en los requerimientos.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sitio un minuto antes de la defensa para que ya este despierto.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idea que queremos que quede es que las reglas viven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 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A8BFC8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A8BFC8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E5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6EAF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6EAF0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38E"/>
                </a:solidFill>
              </a:rPr>
              <a:t>Laboratorio Privado Quetzaltenango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Sistema de Gestión y Control de Inventario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4EA9C0"/>
                </a:solidFill>
              </a:rPr>
              <a:t>Laboratorio Privado Quetzaltenango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BFC8"/>
                </a:solidFill>
              </a:rPr>
              <a:t>Cristopher Alexis Castellanos Paz · 2690245972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BFC8"/>
                </a:solidFill>
              </a:rPr>
              <a:t>José Eduardo Escobar · 2690245346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838E"/>
                </a:solidFill>
              </a:rPr>
              <a:t>Universidad Mariano Gálvez · Bases de Datos · Noviembre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63040" cy="73152"/>
          </a:xfrm>
          <a:prstGeom prst="rect">
            <a:avLst/>
          </a:prstGeom>
          <a:solidFill>
            <a:srgbClr val="4EA9C0"/>
          </a:solidFill>
          <a:ln w="12700">
            <a:solidFill>
              <a:srgbClr val="4EA9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hojas de papel a un sistema con reglas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</a:rPr>
              <a:t>El laboratorio llevaba el inventario en registros de papel transcritos a Excel. Eso trae tres problemas que ninguna hoja de cálculo resuelve.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20624" cy="420624"/>
          </a:xfrm>
          <a:prstGeom prst="ellipse">
            <a:avLst/>
          </a:prstGeom>
          <a:solidFill>
            <a:srgbClr val="A63A2E"/>
          </a:solidFill>
          <a:ln w="12700">
            <a:solidFill>
              <a:srgbClr val="A63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11226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hay existencia confiable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0487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La cantidad disponible se calcula a mano y se desfasa en cuanto alguien olvida anotar una salida.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20624" cy="420624"/>
          </a:xfrm>
          <a:prstGeom prst="ellipse">
            <a:avLst/>
          </a:prstGeom>
          <a:solidFill>
            <a:srgbClr val="A63A2E"/>
          </a:solidFill>
          <a:ln w="12700">
            <a:solidFill>
              <a:srgbClr val="A63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348386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hay trazabilidad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77647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Nadie puede decir quién sacó un reactivo, cuándo, ni de qué lote salió.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420624" cy="420624"/>
          </a:xfrm>
          <a:prstGeom prst="ellipse">
            <a:avLst/>
          </a:prstGeom>
          <a:solidFill>
            <a:srgbClr val="A63A2E"/>
          </a:solidFill>
          <a:ln w="12700">
            <a:solidFill>
              <a:srgbClr val="A6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485546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hay control de vencimientos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5148072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Los lotes vencidos se descubren al usarlos, no antes.</a:t>
            </a:r>
            <a:endParaRPr lang="en-US" sz="1200" dirty="0"/>
          </a:p>
        </p:txBody>
      </p:sp>
      <p:sp>
        <p:nvSpPr>
          <p:cNvPr id="16" name="tarjeta-productos en catálogo"/>
          <p:cNvSpPr/>
          <p:nvPr/>
        </p:nvSpPr>
        <p:spPr>
          <a:xfrm>
            <a:off x="6492240" y="21488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3134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814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990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productos en catálogo</a:t>
            </a:r>
            <a:endParaRPr lang="en-US" sz="1100" dirty="0"/>
          </a:p>
        </p:txBody>
      </p:sp>
      <p:sp>
        <p:nvSpPr>
          <p:cNvPr id="19" name="tarjeta-lotes con vencimiento"/>
          <p:cNvSpPr/>
          <p:nvPr/>
        </p:nvSpPr>
        <p:spPr>
          <a:xfrm>
            <a:off x="9144000" y="21488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23134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1,296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990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lotes con vencimiento</a:t>
            </a:r>
            <a:endParaRPr lang="en-US" sz="1100" dirty="0"/>
          </a:p>
        </p:txBody>
      </p:sp>
      <p:sp>
        <p:nvSpPr>
          <p:cNvPr id="22" name="tarjeta-movimientos registrados"/>
          <p:cNvSpPr/>
          <p:nvPr/>
        </p:nvSpPr>
        <p:spPr>
          <a:xfrm>
            <a:off x="6492240" y="39776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1422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6,561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818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movimientos registrados</a:t>
            </a:r>
            <a:endParaRPr lang="en-US" sz="1100" dirty="0"/>
          </a:p>
        </p:txBody>
      </p:sp>
      <p:sp>
        <p:nvSpPr>
          <p:cNvPr id="25" name="tarjeta-inventario valorizado"/>
          <p:cNvSpPr/>
          <p:nvPr/>
        </p:nvSpPr>
        <p:spPr>
          <a:xfrm>
            <a:off x="9144000" y="397764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0" y="41422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7A5A"/>
                </a:solidFill>
              </a:rPr>
              <a:t>Q600 mil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818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inventario valorizado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577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38E"/>
                </a:solidFill>
              </a:rPr>
              <a:t>Datos reales del laboratorio, de marzo a octubre de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Cómo está construido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D6EAF0"/>
                </a:solidFill>
              </a:rPr>
              <a:t>Arquitectura, tecnologías y por qué elegimos cada una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Cuatro capas, cada una con una responsabilidad</a:t>
            </a:r>
            <a:endParaRPr lang="en-US" sz="3200" dirty="0"/>
          </a:p>
        </p:txBody>
      </p:sp>
      <p:sp>
        <p:nvSpPr>
          <p:cNvPr id="3" name="capa-0"/>
          <p:cNvSpPr/>
          <p:nvPr/>
        </p:nvSpPr>
        <p:spPr>
          <a:xfrm>
            <a:off x="640080" y="1417320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4EA9C0"/>
          </a:solidFill>
          <a:ln w="12700">
            <a:solidFill>
              <a:srgbClr val="4EA9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27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928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DF0"/>
                </a:solidFill>
              </a:rPr>
              <a:t>templates/ — HTML, CSS y JavaScript propios, sin frameworks de interfaz</a:t>
            </a:r>
            <a:endParaRPr lang="en-US" sz="1100" dirty="0"/>
          </a:p>
        </p:txBody>
      </p:sp>
      <p:sp>
        <p:nvSpPr>
          <p:cNvPr id="6" name="capa-1"/>
          <p:cNvSpPr/>
          <p:nvPr/>
        </p:nvSpPr>
        <p:spPr>
          <a:xfrm>
            <a:off x="640080" y="2532888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42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Rutas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08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DF0"/>
                </a:solidFill>
              </a:rPr>
              <a:t>routes/ — 12 módulos; validan la entrada y deciden qué puede hacer cada rol</a:t>
            </a:r>
            <a:endParaRPr lang="en-US" sz="1100" dirty="0"/>
          </a:p>
        </p:txBody>
      </p:sp>
      <p:sp>
        <p:nvSpPr>
          <p:cNvPr id="9" name="capa-2"/>
          <p:cNvSpPr/>
          <p:nvPr/>
        </p:nvSpPr>
        <p:spPr>
          <a:xfrm>
            <a:off x="640080" y="3648456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2F7A5A"/>
          </a:solidFill>
          <a:ln w="12700">
            <a:solidFill>
              <a:srgbClr val="2F7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581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Acceso a datos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239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DF0"/>
                </a:solidFill>
              </a:rPr>
              <a:t>db.py — único punto de conexión; todas las consultas parametrizadas</a:t>
            </a:r>
            <a:endParaRPr lang="en-US" sz="1100" dirty="0"/>
          </a:p>
        </p:txBody>
      </p:sp>
      <p:sp>
        <p:nvSpPr>
          <p:cNvPr id="12" name="capa-3"/>
          <p:cNvSpPr/>
          <p:nvPr/>
        </p:nvSpPr>
        <p:spPr>
          <a:xfrm>
            <a:off x="640080" y="4764024"/>
            <a:ext cx="6949440" cy="914400"/>
          </a:xfrm>
          <a:prstGeom prst="roundRect">
            <a:avLst>
              <a:gd name="adj" fmla="val 5000"/>
            </a:avLst>
          </a:prstGeom>
          <a:solidFill>
            <a:srgbClr val="10202B"/>
          </a:solidFill>
          <a:ln w="12700">
            <a:solidFill>
              <a:srgbClr val="10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Base de datos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239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DF0"/>
                </a:solidFill>
              </a:rPr>
              <a:t>PostgreSQL — las reglas de negocio viven aquí, no en la aplicación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qué importa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18745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5560"/>
                </a:solidFill>
              </a:rPr>
              <a:t>La configuración de la base está separada de la interfaz, así que cambiar de servidor no toca ni una plantilla.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5560"/>
                </a:solidFill>
              </a:rPr>
              <a:t>Ninguna ruta abre su propia conexión ni arma SQL con texto del usuario.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D5560"/>
                </a:solidFill>
              </a:rPr>
              <a:t>Si la aplicación tuviera un error, la base de datos sigue rechazando lo que viola una regla.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usamos y por qué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6858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Pieza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Elección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Base de datos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PostgreSQL 18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La consigna permite MySQL, PostgreSQL o SQL Server. Elegimos PostgreSQL por su soporte completo de CHECK, triggers, funciones y roles.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Lenguaje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Python 3.14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El equipo ya lo conocía y su conexión con PostgreSQL es directa.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Framework web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Flask 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Mínimo y explícito: no esconde el SQL detrás de un ORM, así que el modelo relacional queda a la vista.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Controlador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psycopg 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psycopg2 no tiene binario para Python 3.14 en Windows; psycopg 3 sí, y soporta consultas parametrizadas igual.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Servidor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gunicorn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El servidor de desarrollo de Flask no debe usarse en producción.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Interfaz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HTML, CSS y JS propios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Sin framework: menos dependencias que explicar y control total del acceso por rol.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base de datos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D6EAF0"/>
                </a:solidFill>
              </a:rPr>
              <a:t>El modelo, las reglas que lo protegen y la seguridad por roles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 modelo normalizado hasta la tercera forma normal</a:t>
            </a:r>
            <a:endParaRPr lang="en-US" sz="3200" dirty="0"/>
          </a:p>
        </p:txBody>
      </p:sp>
      <p:sp>
        <p:nvSpPr>
          <p:cNvPr id="3" name="tarjeta-tablas"/>
          <p:cNvSpPr/>
          <p:nvPr/>
        </p:nvSpPr>
        <p:spPr>
          <a:xfrm>
            <a:off x="640080" y="13716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15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tablas</a:t>
            </a:r>
            <a:endParaRPr lang="en-US" sz="1100" dirty="0"/>
          </a:p>
        </p:txBody>
      </p:sp>
      <p:sp>
        <p:nvSpPr>
          <p:cNvPr id="6" name="tarjeta-relaciones N:M resueltas"/>
          <p:cNvSpPr/>
          <p:nvPr/>
        </p:nvSpPr>
        <p:spPr>
          <a:xfrm>
            <a:off x="3429000" y="13716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5361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relaciones N:M resueltas</a:t>
            </a:r>
            <a:endParaRPr lang="en-US" sz="1100" dirty="0"/>
          </a:p>
        </p:txBody>
      </p:sp>
      <p:sp>
        <p:nvSpPr>
          <p:cNvPr id="9" name="tarjeta-restricciones explícitas"/>
          <p:cNvSpPr/>
          <p:nvPr/>
        </p:nvSpPr>
        <p:spPr>
          <a:xfrm>
            <a:off x="6217920" y="13716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361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60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restricciones explícitas</a:t>
            </a:r>
            <a:endParaRPr lang="en-US" sz="1100" dirty="0"/>
          </a:p>
        </p:txBody>
      </p:sp>
      <p:sp>
        <p:nvSpPr>
          <p:cNvPr id="12" name="tarjeta-vistas"/>
          <p:cNvSpPr/>
          <p:nvPr/>
        </p:nvSpPr>
        <p:spPr>
          <a:xfrm>
            <a:off x="9006840" y="13716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15361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vistas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Decisiones que vale la pena defender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420624" cy="420624"/>
          </a:xfrm>
          <a:prstGeom prst="ellipse">
            <a:avLst/>
          </a:prstGeom>
          <a:solidFill>
            <a:srgbClr val="2F7A5A"/>
          </a:solidFill>
          <a:ln w="12700">
            <a:solidFill>
              <a:srgbClr val="2F7A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62102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Nada que se pueda calcular se guarda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913632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La existencia de un lote no es un campo que alguien edite: la calculan los triggers a partir del historial.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420624" cy="420624"/>
          </a:xfrm>
          <a:prstGeom prst="ellipse">
            <a:avLst/>
          </a:prstGeom>
          <a:solidFill>
            <a:srgbClr val="2F7A5A"/>
          </a:solidFill>
          <a:ln w="12700">
            <a:solidFill>
              <a:srgbClr val="2F7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71830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número de lote es único por producto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010912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Dos productos distintos sí pueden traer el mismo número de lote de fábrica.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420624" cy="420624"/>
          </a:xfrm>
          <a:prstGeom prst="ellipse">
            <a:avLst/>
          </a:prstGeom>
          <a:solidFill>
            <a:srgbClr val="2F7A5A"/>
          </a:solidFill>
          <a:ln w="12700">
            <a:solidFill>
              <a:srgbClr val="2F7A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62102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Toda llave foránea declara qué pasa al borrar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391363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RESTRICT en el historial, CASCADE solo en las tablas puente que no tienen valor histórico.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754880"/>
            <a:ext cx="420624" cy="420624"/>
          </a:xfrm>
          <a:prstGeom prst="ellipse">
            <a:avLst/>
          </a:prstGeom>
          <a:solidFill>
            <a:srgbClr val="2F7A5A"/>
          </a:solidFill>
          <a:ln w="12700">
            <a:solidFill>
              <a:srgbClr val="2F7A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67728" y="471830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inventario se valoriza a costo promedio móvil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501091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Cada compra recalcula el promedio; cada salida se descarga al promedio vigente ese día.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Las reglas de negocio viven en la base, no en la aplicación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</a:rPr>
              <a:t>Si alguien se conectara por fuera del sistema, las reglas se siguen aplicando. Eso es lo que separa una base de datos de un archivo compartido.</a:t>
            </a:r>
            <a:endParaRPr lang="en-US" sz="1400" dirty="0"/>
          </a:p>
        </p:txBody>
      </p:sp>
      <p:sp>
        <p:nvSpPr>
          <p:cNvPr id="4" name="tarjeta-triggers activos"/>
          <p:cNvSpPr/>
          <p:nvPr/>
        </p:nvSpPr>
        <p:spPr>
          <a:xfrm>
            <a:off x="640080" y="192024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4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22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triggers activos</a:t>
            </a:r>
            <a:endParaRPr lang="en-US" sz="1100" dirty="0"/>
          </a:p>
        </p:txBody>
      </p:sp>
      <p:sp>
        <p:nvSpPr>
          <p:cNvPr id="7" name="tarjeta-funciones y procedimientos"/>
          <p:cNvSpPr/>
          <p:nvPr/>
        </p:nvSpPr>
        <p:spPr>
          <a:xfrm>
            <a:off x="3657600" y="192024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08483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5A6E"/>
                </a:solidFill>
              </a:rPr>
              <a:t>19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38E"/>
                </a:solidFill>
              </a:rPr>
              <a:t>funciones y procedimientos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Ejemplos concretos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77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5560"/>
                </a:solidFill>
              </a:rPr>
              <a:t>Una salida no puede dejar un lote en negativo.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5560"/>
                </a:solidFill>
              </a:rPr>
              <a:t>El historial no se puede modificar ni borrar: un error se corrige con un movimiento inverso.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5560"/>
                </a:solidFill>
              </a:rPr>
              <a:t>Un producto que exige vencimiento no admite lotes sin fecha.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5560"/>
                </a:solidFill>
              </a:rPr>
              <a:t>Una devolución no puede devolver más de lo que esa salida sacó.</a:t>
            </a:r>
            <a:endParaRPr lang="en-US" sz="1300" dirty="0"/>
          </a:p>
        </p:txBody>
      </p:sp>
      <p:sp>
        <p:nvSpPr>
          <p:cNvPr id="12" name="prueba"/>
          <p:cNvSpPr/>
          <p:nvPr/>
        </p:nvSpPr>
        <p:spPr>
          <a:xfrm>
            <a:off x="640080" y="3749040"/>
            <a:ext cx="5760720" cy="1828800"/>
          </a:xfrm>
          <a:prstGeom prst="roundRect">
            <a:avLst>
              <a:gd name="adj" fmla="val 2500"/>
            </a:avLst>
          </a:prstGeom>
          <a:solidFill>
            <a:srgbClr val="10202B"/>
          </a:solidFill>
          <a:ln w="12700">
            <a:solidFill>
              <a:srgbClr val="10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9C0"/>
                </a:solidFill>
              </a:rPr>
              <a:t>La prueba más contundente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891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DF0"/>
                </a:solidFill>
              </a:rPr>
              <a:t>Los 6,561 movimientos reales se cargaron con los triggers activos. Si uno solo hubiera dejado existencia negativa, la carga entera se habría cancelado.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Seguridad en dos capas independientes</a:t>
            </a:r>
            <a:endParaRPr lang="en-US" sz="3200" dirty="0"/>
          </a:p>
        </p:txBody>
      </p:sp>
      <p:sp>
        <p:nvSpPr>
          <p:cNvPr id="3" name="capa-app"/>
          <p:cNvSpPr/>
          <p:nvPr/>
        </p:nvSpPr>
        <p:spPr>
          <a:xfrm>
            <a:off x="640080" y="13716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6E"/>
                </a:solidFill>
              </a:rPr>
              <a:t>1 · En la aplicación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Cada ruta declara qué roles la pueden usar y responde 403 si no corresponde. Las plantillas solo muestran los botones que ese rol puede usar.</a:t>
            </a:r>
            <a:endParaRPr lang="en-US" sz="1200" dirty="0"/>
          </a:p>
        </p:txBody>
      </p:sp>
      <p:sp>
        <p:nvSpPr>
          <p:cNvPr id="6" name="capa-bd"/>
          <p:cNvSpPr/>
          <p:nvPr/>
        </p:nvSpPr>
        <p:spPr>
          <a:xfrm>
            <a:off x="6309360" y="137160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10202B"/>
          </a:solidFill>
          <a:ln w="12700">
            <a:solidFill>
              <a:srgbClr val="10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A9C0"/>
                </a:solidFill>
              </a:rPr>
              <a:t>2 · En la base de datos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9659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DF0"/>
                </a:solidFill>
              </a:rPr>
              <a:t>Tras el login, cada petición adopta un rol de PostgreSQL con SET ROLE. Aunque la interfaz fallara, el motor niega lo que ese rol no puede hacer.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66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Puede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 puede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Administrador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Todo: catálogos, usuarios, corrección de lotes y movimientos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Leer contraseñas ni editar la existencia a mano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Encargado de inventario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Consultar y registrar entradas, salidas y devoluciones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Tocar catálogos ni administrar usuarios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Usuario de consulta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Consultar y generar reportes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D5560"/>
                          </a:solidFill>
                        </a:rPr>
                        <a:t>Escribir absolutamente nada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A63A2E"/>
                </a:solidFill>
              </a:rPr>
              <a:t>Ningún rol tiene INSERT sobre la tabla de movimientos: la única vía son los procedimientos almacenados.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Defensas contra peticiones falsificadas o repetidas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60"/>
                </a:solidFill>
              </a:rPr>
              <a:t>Añadidas tras la observación del catedrático: que alguien podría conectarse e intentar hacer o deshacer varios movimientos.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9222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Token CSRF en los 27 formularios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84832"/>
            <a:ext cx="10405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Impide que otro sitio provoque una operación con la sesión del usuario. No depende de que el navegador envíe el encabezado Origin.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20624" cy="420624"/>
          </a:xfrm>
          <a:prstGeom prst="ellipse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88950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Token de un solo uso en cada movimiento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182112"/>
            <a:ext cx="10405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El mismo registro no se puede guardar dos veces, ni recargando con F5 ni reenviando una petición capturada. Responde literalmente a lo que se preguntó.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20624" cy="420624"/>
          </a:xfrm>
          <a:prstGeom prst="ellipse">
            <a:avLst/>
          </a:prstGeom>
          <a:solidFill>
            <a:srgbClr val="0E5A6E"/>
          </a:solidFill>
          <a:ln w="12700">
            <a:solidFill>
              <a:srgbClr val="0E5A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986784"/>
            <a:ext cx="10405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Bloqueo tras cinco intentos fallidos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279392"/>
            <a:ext cx="10405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Se cuenta por usuario y dirección de origen, para que nadie pueda dejar fuera al administrador fallando a propósito. Un acierto reinicia el contador.</a:t>
            </a:r>
            <a:endParaRPr lang="en-US" sz="1200" dirty="0"/>
          </a:p>
        </p:txBody>
      </p:sp>
      <p:sp>
        <p:nvSpPr>
          <p:cNvPr id="16" name="oauth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AEEDB"/>
          </a:solidFill>
          <a:ln w="12700">
            <a:solidFill>
              <a:srgbClr val="B8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91F"/>
                </a:solidFill>
              </a:rPr>
              <a:t>¿Por qué no OAuth 2.0?  </a:t>
            </a:r>
            <a:pPr indent="0" marL="0">
              <a:buNone/>
            </a:pPr>
            <a:r>
              <a:rPr lang="en-US" sz="1150" dirty="0">
                <a:solidFill>
                  <a:srgbClr val="3D5560"/>
                </a:solidFill>
              </a:rPr>
              <a:t>Es un protocolo de autorización delegada entre un usuario, una aplicación de terceros y el servicio que guarda los datos. Este sistema es una sola aplicación con sus propios usuarios y no delega nada en nadie. Tendría sentido si expusiéramos una API o si el login pasara a la cuenta institucional.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El sistema funcionando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D6EAF0"/>
                </a:solidFill>
              </a:rPr>
              <a:t>Capturas tomadas de la aplicación real, con los datos del laboratorio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Entrar al sistema</a:t>
            </a:r>
            <a:endParaRPr lang="en-US" sz="3200" dirty="0"/>
          </a:p>
        </p:txBody>
      </p:sp>
      <p:sp>
        <p:nvSpPr>
          <p:cNvPr id="3" name="marco"/>
          <p:cNvSpPr/>
          <p:nvPr/>
        </p:nvSpPr>
        <p:spPr>
          <a:xfrm>
            <a:off x="603504" y="1335024"/>
            <a:ext cx="5468112" cy="3232719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4" name="Image 0" descr="C:\Users\crist\OneDrive\Escritorio\sistema-inventario-laboratorio\docs\casos-prueba\evidencias-entrega-4\CP4-01a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94960" cy="3159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4089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Pantalla de inicio de sesión</a:t>
            </a:r>
            <a:endParaRPr lang="en-US" sz="1000" dirty="0"/>
          </a:p>
        </p:txBody>
      </p:sp>
      <p:sp>
        <p:nvSpPr>
          <p:cNvPr id="6" name="marco"/>
          <p:cNvSpPr/>
          <p:nvPr/>
        </p:nvSpPr>
        <p:spPr>
          <a:xfrm>
            <a:off x="6272784" y="1335024"/>
            <a:ext cx="5285232" cy="3667427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7" name="Image 1" descr="C:\Users\crist\OneDrive\Escritorio\sistema-inventario-laboratorio\docs\casos-prueba\evidencias-entrega-4\CP4-01c-inicio-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3594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507560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Resumen del inventario al entrar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60"/>
                </a:solidFill>
              </a:rPr>
              <a:t>La contraseña nunca se guarda en texto plano; se almacena su hash. El mensaje de error es genérico a propósito: no revela si el usuario existe.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Registrar una entrada de inventario</a:t>
            </a:r>
            <a:endParaRPr lang="en-US" sz="3200" dirty="0"/>
          </a:p>
        </p:txBody>
      </p:sp>
      <p:sp>
        <p:nvSpPr>
          <p:cNvPr id="3" name="marco"/>
          <p:cNvSpPr/>
          <p:nvPr/>
        </p:nvSpPr>
        <p:spPr>
          <a:xfrm>
            <a:off x="603504" y="1335024"/>
            <a:ext cx="5468112" cy="3232719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4" name="Image 0" descr="C:\Users\crist\OneDrive\Escritorio\sistema-inventario-laboratorio\docs\casos-prueba\evidencias-entrega-4\CP4-05a-ent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94960" cy="3159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4089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Formulario de entrada</a:t>
            </a:r>
            <a:endParaRPr lang="en-US" sz="1000" dirty="0"/>
          </a:p>
        </p:txBody>
      </p:sp>
      <p:sp>
        <p:nvSpPr>
          <p:cNvPr id="6" name="marco"/>
          <p:cNvSpPr/>
          <p:nvPr/>
        </p:nvSpPr>
        <p:spPr>
          <a:xfrm>
            <a:off x="6272784" y="1335024"/>
            <a:ext cx="5285232" cy="3125615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7" name="Image 1" descr="C:\Users\crist\OneDrive\Escritorio\sistema-inventario-laboratorio\docs\casos-prueba\evidencias-entrega-4\CP4-05c-l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30524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453379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Ficha del lote con su historial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60"/>
                </a:solidFill>
              </a:rPr>
              <a:t>Una entrada crea o alimenta un lote. El trigger suma la existencia: el usuario nunca escribe la cantidad disponible a mano.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Salidas por FEFO y corrección de errores</a:t>
            </a:r>
            <a:endParaRPr lang="en-US" sz="3200" dirty="0"/>
          </a:p>
        </p:txBody>
      </p:sp>
      <p:sp>
        <p:nvSpPr>
          <p:cNvPr id="3" name="marco"/>
          <p:cNvSpPr/>
          <p:nvPr/>
        </p:nvSpPr>
        <p:spPr>
          <a:xfrm>
            <a:off x="603504" y="1335024"/>
            <a:ext cx="5468112" cy="3232719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4" name="Image 0" descr="C:\Users\crist\OneDrive\Escritorio\sistema-inventario-laboratorio\docs\casos-prueba\evidencias-entrega-4\CP4-06a-sal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94960" cy="3159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4089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Salida: el sistema elige los lotes que vencen primero</a:t>
            </a:r>
            <a:endParaRPr lang="en-US" sz="1000" dirty="0"/>
          </a:p>
        </p:txBody>
      </p:sp>
      <p:sp>
        <p:nvSpPr>
          <p:cNvPr id="6" name="marco"/>
          <p:cNvSpPr/>
          <p:nvPr/>
        </p:nvSpPr>
        <p:spPr>
          <a:xfrm>
            <a:off x="6272784" y="1335024"/>
            <a:ext cx="5285232" cy="3125615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7" name="Image 1" descr="C:\Users\crist\OneDrive\Escritorio\sistema-inventario-laboratorio\docs\casos-prueba\evidencias-entrega-4\CP4-06c-devolu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30524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453379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Devolución de una salida equivocada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60"/>
                </a:solidFill>
              </a:rPr>
              <a:t>FEFO significa que primero sale lo que vence antes, y nunca un lote vencido. Si una salida se registró mal, se corrige con una devolución que exige explicar el motivo: la salida original permanece en el historial.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Reportes y kardex valorizado</a:t>
            </a:r>
            <a:endParaRPr lang="en-US" sz="3200" dirty="0"/>
          </a:p>
        </p:txBody>
      </p:sp>
      <p:sp>
        <p:nvSpPr>
          <p:cNvPr id="3" name="marco"/>
          <p:cNvSpPr/>
          <p:nvPr/>
        </p:nvSpPr>
        <p:spPr>
          <a:xfrm>
            <a:off x="603504" y="1335024"/>
            <a:ext cx="5468112" cy="3232719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4" name="Image 0" descr="C:\Users\crist\OneDrive\Escritorio\sistema-inventario-laboratorio\docs\casos-prueba\evidencias-entrega-4\CP4-08b-kar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394960" cy="3159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40895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Kardex a costo promedio ponderado móvil</a:t>
            </a:r>
            <a:endParaRPr lang="en-US" sz="1000" dirty="0"/>
          </a:p>
        </p:txBody>
      </p:sp>
      <p:sp>
        <p:nvSpPr>
          <p:cNvPr id="6" name="marco"/>
          <p:cNvSpPr/>
          <p:nvPr/>
        </p:nvSpPr>
        <p:spPr>
          <a:xfrm>
            <a:off x="6272784" y="1335024"/>
            <a:ext cx="5285232" cy="3125615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7" name="Image 1" descr="C:\Users\crist\OneDrive\Escritorio\sistema-inventario-laboratorio\docs\casos-prueba\evidencias-entrega-4\CP4-08c-inventario-baj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30524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453379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Alerta de productos bajo el mínimo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60"/>
                </a:solidFill>
              </a:rPr>
              <a:t>Nueve reportes, todos exportables a CSV e imprimibles. La comprobación contable cuadra: compras menos consumo coincide con el inventario valorizado.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control por rol se ve y se siente</a:t>
            </a:r>
            <a:endParaRPr lang="en-US" sz="3200" dirty="0"/>
          </a:p>
        </p:txBody>
      </p:sp>
      <p:sp>
        <p:nvSpPr>
          <p:cNvPr id="3" name="marco"/>
          <p:cNvSpPr/>
          <p:nvPr/>
        </p:nvSpPr>
        <p:spPr>
          <a:xfrm>
            <a:off x="603504" y="1426464"/>
            <a:ext cx="6748272" cy="3982446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4" name="Image 0" descr="C:\Users\crist\OneDrive\Escritorio\sistema-inventario-laboratorio\docs\casos-prueba\evidencias-entrega-4\CP4-01e-consulta-4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675120" cy="39092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48206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38E"/>
                </a:solidFill>
              </a:rPr>
              <a:t>El rol de consulta escribe la dirección a mano y el sistema la niega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 que el rol no puede hacer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783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5560"/>
                </a:solidFill>
              </a:rPr>
              <a:t>No le aparece el botón.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5560"/>
                </a:solidFill>
              </a:rPr>
              <a:t>Si escribe la dirección a mano, recibe 403.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5560"/>
                </a:solidFill>
              </a:rPr>
              <a:t>Si la aplicación tuviera un error, PostgreSQL niega la operación igual.</a:t>
            </a:r>
            <a:endParaRPr lang="en-US" sz="1250" dirty="0"/>
          </a:p>
        </p:txBody>
      </p:sp>
      <p:sp>
        <p:nvSpPr>
          <p:cNvPr id="8" name="nota-rol"/>
          <p:cNvSpPr/>
          <p:nvPr/>
        </p:nvSpPr>
        <p:spPr>
          <a:xfrm>
            <a:off x="7680960" y="3749040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3977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5A6E"/>
                </a:solidFill>
              </a:rPr>
              <a:t>Tres barreras para la misma regla. Quitar una no abre la puerta.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 línea y funcionando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6E"/>
                </a:solidFill>
              </a:rPr>
              <a:t>inventario-laboratorio-03s7.onrender.com</a:t>
            </a:r>
            <a:endParaRPr lang="en-US" sz="2000" dirty="0"/>
          </a:p>
        </p:txBody>
      </p:sp>
      <p:sp>
        <p:nvSpPr>
          <p:cNvPr id="4" name="render"/>
          <p:cNvSpPr/>
          <p:nvPr/>
        </p:nvSpPr>
        <p:spPr>
          <a:xfrm>
            <a:off x="640080" y="192024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E"/>
                </a:solidFill>
              </a:rPr>
              <a:t>Aplicación · Render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560"/>
                </a:solidFill>
              </a:rPr>
              <a:t>Servida con gunicorn sobre HTTPS. Se actualiza sola al publicar en la rama principal.</a:t>
            </a:r>
            <a:endParaRPr lang="en-US" sz="1150" dirty="0"/>
          </a:p>
        </p:txBody>
      </p:sp>
      <p:sp>
        <p:nvSpPr>
          <p:cNvPr id="7" name="neon"/>
          <p:cNvSpPr/>
          <p:nvPr/>
        </p:nvSpPr>
        <p:spPr>
          <a:xfrm>
            <a:off x="4343400" y="192024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E"/>
                </a:solidFill>
              </a:rPr>
              <a:t>Base de datos · Neon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560"/>
                </a:solidFill>
              </a:rPr>
              <a:t>PostgreSQL administrado, con los mismos scripts, triggers y roles que la instalación local.</a:t>
            </a:r>
            <a:endParaRPr lang="en-US" sz="1150" dirty="0"/>
          </a:p>
        </p:txBody>
      </p:sp>
      <p:sp>
        <p:nvSpPr>
          <p:cNvPr id="10" name="repo"/>
          <p:cNvSpPr/>
          <p:nvPr/>
        </p:nvSpPr>
        <p:spPr>
          <a:xfrm>
            <a:off x="8001000" y="192024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6E"/>
                </a:solidFill>
              </a:rPr>
              <a:t>Código · GitHub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68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5560"/>
                </a:solidFill>
              </a:rPr>
              <a:t>Una etiqueta por entrega. Ninguna contraseña está en el repositorio: el archivo .env nunca se sube.</a:t>
            </a:r>
            <a:endParaRPr lang="en-US" sz="1150" dirty="0"/>
          </a:p>
        </p:txBody>
      </p:sp>
      <p:sp>
        <p:nvSpPr>
          <p:cNvPr id="13" name="aviso-render"/>
          <p:cNvSpPr/>
          <p:nvPr/>
        </p:nvSpPr>
        <p:spPr>
          <a:xfrm>
            <a:off x="640080" y="4023360"/>
            <a:ext cx="6949440" cy="960120"/>
          </a:xfrm>
          <a:prstGeom prst="roundRect">
            <a:avLst>
              <a:gd name="adj" fmla="val 4762"/>
            </a:avLst>
          </a:prstGeom>
          <a:solidFill>
            <a:srgbClr val="FAEEDB"/>
          </a:solidFill>
          <a:ln w="12700">
            <a:solidFill>
              <a:srgbClr val="B87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El plan gratuito de Render duerme tras 15 minutos sin uso: la primera visita tarda unos 50 segundos en despertar. Conviene abrir el sitio un minuto antes de la defensa.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12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También funciona en celular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5560"/>
                </a:solidFill>
              </a:rPr>
              <a:t>La interfaz se adapta a 390 px de ancho, verificada en un teléfono real.</a:t>
            </a:r>
            <a:endParaRPr lang="en-US" sz="1200" dirty="0"/>
          </a:p>
        </p:txBody>
      </p:sp>
      <p:sp>
        <p:nvSpPr>
          <p:cNvPr id="17" name="marco-movil"/>
          <p:cNvSpPr/>
          <p:nvPr/>
        </p:nvSpPr>
        <p:spPr>
          <a:xfrm>
            <a:off x="7918704" y="3986784"/>
            <a:ext cx="1261872" cy="2487168"/>
          </a:xfrm>
          <a:prstGeom prst="rect">
            <a:avLst/>
          </a:prstGeom>
          <a:solidFill>
            <a:srgbClr val="EDF3F5"/>
          </a:solidFill>
          <a:ln w="12700">
            <a:solidFill>
              <a:srgbClr val="C3D2D8"/>
            </a:solidFill>
            <a:prstDash val="solid"/>
          </a:ln>
        </p:spPr>
      </p:sp>
      <p:pic>
        <p:nvPicPr>
          <p:cNvPr id="18" name="Image 0" descr="C:\Users\crist\OneDrive\Escritorio\sistema-inventario-laboratorio\docs\casos-prueba\evidencias-entrega-4\CP4-12-cel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023360"/>
            <a:ext cx="1188720" cy="2414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838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Un sistema que protege sus propios datos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E4EDF0"/>
                </a:solidFill>
              </a:rPr>
              <a:t>Las reglas no dependen de que la aplicación se porte bien: viven en la base de datos.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EA9C0"/>
                </a:solidFill>
              </a:rPr>
              <a:t>814 productos · 1,296 lotes · 6,561 movimientos · Q600,088.34 de inventario valorizado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838E"/>
                </a:solidFill>
              </a:rPr>
              <a:t>Cristopher Alexis Castellanos Paz · José Eduardo Escobar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63040" cy="73152"/>
          </a:xfrm>
          <a:prstGeom prst="rect">
            <a:avLst/>
          </a:prstGeom>
          <a:solidFill>
            <a:srgbClr val="4EA9C0"/>
          </a:solidFill>
          <a:ln w="12700">
            <a:solidFill>
              <a:srgbClr val="4EA9C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nventario Laboratorio">
  <a:themeElements>
    <a:clrScheme name="Inventario Laboratorio">
      <a:dk1>
        <a:srgbClr val="10202B"/>
      </a:dk1>
      <a:lt1>
        <a:srgbClr val="FFFFFF"/>
      </a:lt1>
      <a:dk2>
        <a:srgbClr val="0E5A6E"/>
      </a:dk2>
      <a:lt2>
        <a:srgbClr val="EDF3F5"/>
      </a:lt2>
      <a:accent1>
        <a:srgbClr val="0E5A6E"/>
      </a:accent1>
      <a:accent2>
        <a:srgbClr val="2F7A5A"/>
      </a:accent2>
      <a:accent3>
        <a:srgbClr val="B8791F"/>
      </a:accent3>
      <a:accent4>
        <a:srgbClr val="A63A2E"/>
      </a:accent4>
      <a:accent5>
        <a:srgbClr val="4EA9C0"/>
      </a:accent5>
      <a:accent6>
        <a:srgbClr val="6B838E"/>
      </a:accent6>
      <a:hlink>
        <a:srgbClr val="0E5A6E"/>
      </a:hlink>
      <a:folHlink>
        <a:srgbClr val="6B838E"/>
      </a:folHlink>
    </a:clrScheme>
    <a:fontScheme name="Inventario Laboratori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Inventario - Laboratorio Privado Quetzaltenango</dc:title>
  <dc:subject>PptxGenJS Presentation</dc:subject>
  <dc:creator>Cristopher Alexis Castellanos Paz, Jose Eduardo Escobar</dc:creator>
  <cp:lastModifiedBy>Cristopher Alexis Castellanos Paz, Jose Eduardo Escobar</cp:lastModifiedBy>
  <cp:revision>1</cp:revision>
  <dcterms:created xsi:type="dcterms:W3CDTF">2026-10-28T03:42:17Z</dcterms:created>
  <dcterms:modified xsi:type="dcterms:W3CDTF">2026-10-28T03:42:17Z</dcterms:modified>
</cp:coreProperties>
</file>